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Plataforma Integral de PROFEPA 1.0</a:t>
            </a:r>
          </a:p>
          <a:p>
            <a:pPr>
              <a:defRPr sz="2700">
                <a:solidFill>
                  <a:srgbClr val="E1EBF5"/>
                </a:solidFill>
              </a:defRPr>
            </a:pPr>
            <a:r>
              <a:t>Análisis de requerimientos, arquitectura y Business Intelligence</a:t>
            </a:r>
          </a:p>
          <a:p>
            <a:pPr>
              <a:defRPr sz="1800">
                <a:solidFill>
                  <a:srgbClr val="C8D7E6"/>
                </a:solidFill>
              </a:defRPr>
            </a:pPr>
            <a:r>
              <a:t>Actualización con Minutas No. 02 y No.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92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Subprocuraduría de Prevención Ambiental / PROFEPA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1. Objetivo de la actualización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Consolidar el análisis funcional existente con los acuerdos de las Minutas No. 02 y No. 03.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Precisar nuevos requerimientos: folios, SCIAN/CMAP, documentos y firma, concertación, COA/SEMARNAT, actividades externas y alcance funcional.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Definir una orientación arquitectónica moderna, modular, interoperable, segura y observable.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Incorporar una estrategia integral para explotación de información transaccional y BI.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2. Fuentes y evidencia considerada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Documento base: Plataforma Integral de PROFEPA 1.0 — Análisis de requerimientos funcionales y modelado de procesos.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Minuta No. 02: énfasis en EMA, CONANP, folios, auditoría/empresa, eliminación de actividades sin valor, confidencialidad y evaluación de auditores.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Minuta No. 03: SCIAN/CMAP, convenios de concertación, generación de documentos y FIEL, COA/SEMARNAT, BI, funcionalidades obsoletas/nuevas, actividades fuera del sistema y posible nuevo nombre de plataforma.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Contexto tecnológico externo: NIST, Microsoft, Tableau, Qlik, Google Cloud, Apache Superset y Metabase.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3. Conclusión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Plataforma Integral de PROFEPA 1.0 debe tratarse como una plataforma de gestión de procesos regulatorios, no como una actualización de pantallas.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El expediente electrónico, las reglas, la interoperabilidad, la trazabilidad y los datos son capacidades transversales.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Las minutas refuerzan la necesidad de rediseñar el proceso antes de automatizarlo.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BI debe diseñarse desde el modelo de datos y no como reportes agregados al final.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4. Nuevos puntos incorporados desde las minutas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400800"/>
                <a:gridCol w="1828800"/>
              </a:tblGrid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Implicación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Prioridad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EMA / CONANP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Validaciones automáticas de acreditación y ubicación cuando existan servicios.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Folios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Prefijo, tipo, año, ubicación, unicidad y confirmación.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SCIAN / CMAP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Catálogo gobernado, versionado y asociado a reglas.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Documentos / FIEL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Generación, versión, firma y formalización.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Concertación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Nuevo módulo reutilizando expediente y firma.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Media-Alta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COA / SEMARNAT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Interoperabilidad por servicios/microservicios.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BI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Explotación, reporteo e indicadores gobernados.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Obsoletas / externas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No replicar funcionalidad sin valor; inventariar actividades fuera del sistema.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5. AS-IS: principales problemas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63436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Problema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Captura repetitiva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Errores y retrabajo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Validaciones externas manuales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Información desactualizada y tiempos mayores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Documentos PDF no estructurados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Poca reutilización de datos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Correos/oficios manuales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Omisiones y falta de oportunidad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Trazabilidad dispersa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Dificultad para auditoría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Reportes manuales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Información tardía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Actividades fuera del sistema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Control operativo fragmentado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6. TO-BE: capacidades transversales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148840" cy="960120"/>
          </a:xfrm>
          <a:prstGeom prst="roundRect">
            <a:avLst/>
          </a:prstGeom>
          <a:solidFill>
            <a:srgbClr val="E6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Expediente electrónico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2148840" cy="960120"/>
          </a:xfrm>
          <a:prstGeom prst="roundRect">
            <a:avLst/>
          </a:prstGeom>
          <a:solidFill>
            <a:srgbClr val="E6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Motor de reglas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371600"/>
            <a:ext cx="2148840" cy="960120"/>
          </a:xfrm>
          <a:prstGeom prst="roundRect">
            <a:avLst/>
          </a:prstGeom>
          <a:solidFill>
            <a:srgbClr val="E6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Workflow / plazos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71600"/>
            <a:ext cx="2148840" cy="960120"/>
          </a:xfrm>
          <a:prstGeom prst="roundRect">
            <a:avLst/>
          </a:prstGeom>
          <a:solidFill>
            <a:srgbClr val="E6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Documentos + firma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971800"/>
            <a:ext cx="2148840" cy="960120"/>
          </a:xfrm>
          <a:prstGeom prst="roundRect">
            <a:avLst/>
          </a:prstGeom>
          <a:solidFill>
            <a:srgbClr val="E6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Interoperabilidad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971800"/>
            <a:ext cx="2148840" cy="960120"/>
          </a:xfrm>
          <a:prstGeom prst="roundRect">
            <a:avLst/>
          </a:prstGeom>
          <a:solidFill>
            <a:srgbClr val="E6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Auditoría / trazabilidad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971800"/>
            <a:ext cx="2148840" cy="960120"/>
          </a:xfrm>
          <a:prstGeom prst="roundRect">
            <a:avLst/>
          </a:prstGeom>
          <a:solidFill>
            <a:srgbClr val="E6EE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BI / analítica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7. Requerimientos adicionales más relevantes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07899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931920"/>
                <a:gridCol w="5760720"/>
              </a:tblGrid>
              <a:tr h="63436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Requerimiento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FR-031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Gestión de folios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Trazabilidad y unicidad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FR-032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SCIAN/CMAP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Clasificación gobernada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FR-033/034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Documentos + firma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Formalización digital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FR-035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Concertación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Convenios y seguimiento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FR-036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COA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Interoperabilidad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FR-038/039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Alcance / actividades externas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Control integral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FR-040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BI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Explotación gobernada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0"/>
                </a:solidFill>
              </a:defRPr>
            </a:pPr>
            <a:r>
              <a:t>Tendencias y arquitectura objetivo para SAAEL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8. Tendencias de arquitectura aplicables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2471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583680"/>
                <a:gridCol w="2560320"/>
              </a:tblGrid>
              <a:tr h="46135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Tendencia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Aplicación en SAAEL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Decisión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Modularidad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Dominios y capacidades separadas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Adoptar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API-first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EMA, CONANP, COA, CFE, futuras fuentes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Adoptar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Event-driven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Notificaciones, vencimientos, tareas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Selectiva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Microservicios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Integraciones/servicios con necesidad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Selectiva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DevSecOps + contenedores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Despliegues repetibles y seguridad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Adoptar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Zero 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Identidad, mínimo privilegio, recursos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Adoptar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Observabilidad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Logs, métricas, trazas, integraciones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Adoptar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Lakehouse / plataforma de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Histórico y analítica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Evaluar/adoptar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Capa semántica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KPIs consistentes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Adoptar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IA analítica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Lenguaje natural/anomalías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03030"/>
                          </a:solidFill>
                        </a:defRPr>
                      </a:pPr>
                      <a:r>
                        <a:t>Fase posterior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9. Arquitectura objetivo conceptual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731520"/>
            <a:ext cx="10652760" cy="621792"/>
          </a:xfrm>
          <a:prstGeom prst="roundRect">
            <a:avLst/>
          </a:prstGeom>
          <a:solidFill>
            <a:srgbClr val="F2F5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Experiencia  —  Portal Empresa/Auditor | Portal PROFEPA | Supervisión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10652760" cy="621792"/>
          </a:xfrm>
          <a:prstGeom prst="roundRect">
            <a:avLst/>
          </a:prstGeom>
          <a:solidFill>
            <a:srgbClr val="F2F5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API y seguridad  —  API Gateway | Identidad | Autorización | Rate limiting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68880"/>
            <a:ext cx="10652760" cy="621792"/>
          </a:xfrm>
          <a:prstGeom prst="roundRect">
            <a:avLst/>
          </a:prstGeom>
          <a:solidFill>
            <a:srgbClr val="F2F5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Procesos / negocio  —  Trámites | Expediente | Reglas | Plazos | Concertación | Auditoría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37560"/>
            <a:ext cx="10652760" cy="621792"/>
          </a:xfrm>
          <a:prstGeom prst="roundRect">
            <a:avLst/>
          </a:prstGeom>
          <a:solidFill>
            <a:srgbClr val="F2F5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Servicios transversales  —  Documentos | Firma | Notificaciones | Búsqueda | Catálogos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06240"/>
            <a:ext cx="10652760" cy="621792"/>
          </a:xfrm>
          <a:prstGeom prst="roundRect">
            <a:avLst/>
          </a:prstGeom>
          <a:solidFill>
            <a:srgbClr val="E5F2E4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Integración  —  EMA | CONANP | COA | SEMARNAT | CONAGUA | SEPOMEX | CFE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74920"/>
            <a:ext cx="10652760" cy="621792"/>
          </a:xfrm>
          <a:prstGeom prst="roundRect">
            <a:avLst/>
          </a:prstGeom>
          <a:solidFill>
            <a:srgbClr val="E5F2E4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Datos  —  OLTP | Documentos | Bitácora | Histórico | Modelo semántico |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10. Seguridad: Zero Trust y 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Autenticación y autorización separadas; mínimo privilegio y segregación de funciones.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Control por rol/permiso y, cuando aplique, por unidad, materia, territorio y expediente.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Auditoría de operaciones críticas, integraciones, documentos, firmas y exportaciones BI.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Protección de recursos y datos, no sólo del perímetro de red.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Clasificación de información incorporada al modelo de acceso y al BI.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11. Interoperabilidad: patrón recomendado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API Gateway / capa de integración para desacoplar SAAEL de las fuentes externas.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Contratos versionados, autenticación, timeout, reintentos, límites de consumo y manejo de errores.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Guardar fuente, fecha/hora, identificador de transacción y resultado como evidencia.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Microservicios sólo donde aporten desacoplamiento, escalabilidad o seguridad verificables.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Evitar integraciones punto-a-punto que obliguen a modificar cada trámite cuando cambia una fuente.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12. Datos: OLTP separado de analítica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212080" cy="4251960"/>
          </a:xfrm>
          <a:prstGeom prst="roundRect">
            <a:avLst/>
          </a:prstGeom>
          <a:solidFill>
            <a:srgbClr val="F2F5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F4E79"/>
                </a:solidFill>
              </a:defRPr>
            </a:pPr>
            <a:r>
              <a:t>OLTP / operación</a:t>
            </a:r>
          </a:p>
          <a:p>
            <a:pPr>
              <a:spcBef>
                <a:spcPts val="1200"/>
              </a:spcBef>
              <a:defRPr sz="1800">
                <a:solidFill>
                  <a:srgbClr val="303030"/>
                </a:solidFill>
              </a:defRPr>
            </a:pPr>
            <a:r>
              <a:t>• Trámites y estados</a:t>
            </a:r>
          </a:p>
          <a:p>
            <a:pPr>
              <a:spcBef>
                <a:spcPts val="1200"/>
              </a:spcBef>
              <a:defRPr sz="1800">
                <a:solidFill>
                  <a:srgbClr val="303030"/>
                </a:solidFill>
              </a:defRPr>
            </a:pPr>
            <a:r>
              <a:t>• Expediente y documentos</a:t>
            </a:r>
          </a:p>
          <a:p>
            <a:pPr>
              <a:spcBef>
                <a:spcPts val="1200"/>
              </a:spcBef>
              <a:defRPr sz="1800">
                <a:solidFill>
                  <a:srgbClr val="303030"/>
                </a:solidFill>
              </a:defRPr>
            </a:pPr>
            <a:r>
              <a:t>• Reglas y catálogos</a:t>
            </a:r>
          </a:p>
          <a:p>
            <a:pPr>
              <a:spcBef>
                <a:spcPts val="1200"/>
              </a:spcBef>
              <a:defRPr sz="1800">
                <a:solidFill>
                  <a:srgbClr val="303030"/>
                </a:solidFill>
              </a:defRPr>
            </a:pPr>
            <a:r>
              <a:t>• Consistencia transaccional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17320"/>
            <a:ext cx="5212080" cy="4251960"/>
          </a:xfrm>
          <a:prstGeom prst="roundRect">
            <a:avLst/>
          </a:prstGeom>
          <a:solidFill>
            <a:srgbClr val="F2F5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F4E79"/>
                </a:solidFill>
              </a:defRPr>
            </a:pPr>
            <a:r>
              <a:t>Plataforma analítica</a:t>
            </a:r>
          </a:p>
          <a:p>
            <a:pPr>
              <a:spcBef>
                <a:spcPts val="1200"/>
              </a:spcBef>
              <a:defRPr sz="1800">
                <a:solidFill>
                  <a:srgbClr val="303030"/>
                </a:solidFill>
              </a:defRPr>
            </a:pPr>
            <a:r>
              <a:t>• Histórico y hechos</a:t>
            </a:r>
          </a:p>
          <a:p>
            <a:pPr>
              <a:spcBef>
                <a:spcPts val="1200"/>
              </a:spcBef>
              <a:defRPr sz="1800">
                <a:solidFill>
                  <a:srgbClr val="303030"/>
                </a:solidFill>
              </a:defRPr>
            </a:pPr>
            <a:r>
              <a:t>• Dimensiones y KPIs</a:t>
            </a:r>
          </a:p>
          <a:p>
            <a:pPr>
              <a:spcBef>
                <a:spcPts val="1200"/>
              </a:spcBef>
              <a:defRPr sz="1800">
                <a:solidFill>
                  <a:srgbClr val="303030"/>
                </a:solidFill>
              </a:defRPr>
            </a:pPr>
            <a:r>
              <a:t>• Modelo semántico</a:t>
            </a:r>
          </a:p>
          <a:p>
            <a:pPr>
              <a:spcBef>
                <a:spcPts val="1200"/>
              </a:spcBef>
              <a:defRPr sz="1800">
                <a:solidFill>
                  <a:srgbClr val="303030"/>
                </a:solidFill>
              </a:defRPr>
            </a:pPr>
            <a:r>
              <a:t>• Dashboards / autoservicio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23560" y="2880360"/>
            <a:ext cx="914400" cy="82296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BUSINESS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0"/>
                </a:solidFill>
              </a:defRPr>
            </a:pPr>
            <a:r>
              <a:t>Explotación de información transaccional para supervisión y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13. ¿Qué aporta BI a SAAEL?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Transforma transacciones en indicadores accionables.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Permite medir tiempos de ciclo, carga, vencimientos y cuellos de botella.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Relaciona trámites, empresas, instalaciones, auditores, materias y resultados.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Permite análisis histórico y comparativo.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Da trazabilidad desde un KPI hasta sus transacciones fuente.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Prepara la plataforma para analítica avanzada sin afectar la operación.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14. Casos de análisis prioritarios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0"/>
              </a:tblGrid>
              <a:tr h="5074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Dominio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Preguntas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Trámites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¿Cuántos? ¿En qué estado? ¿Cuánto tardan?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SLA / plazos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¿Qué está por vencer? ¿Qué unidades se retrasan?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Carga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¿Dónde se concentran expedientes y antigüedad?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Auditores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¿Participación, resultados y desempeño?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RDA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¿Elegibilidad, renovaciones, indicadores y cumplimiento?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No conformidades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¿Qué materias concentran hallazgos y recurrencia?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Integraciones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¿Qué fuentes fallan, cuánto tardan y cuántas transacciones generan?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Formalización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¿Qué documentos están pendientes de firma?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Concertación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¿Qué convenios están vigentes y qué obligaciones avanzan?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15. Capacidades BI recomendadas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138160"/>
              </a:tblGrid>
              <a:tr h="5074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Capacidad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Dashboards ejecutivos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KPIs, tendencias, semáforos, excepciones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Dashboards operativos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Bandejas, vencimientos, aging, tareas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Drill-down / drill-through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KPI → unidad → expediente → transacción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Filtros multidimensionales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Tiempo, trámite, materia, ubicación, auditor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Alertas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Umbrales, vencimientos, anomalías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Autoservicio gobernado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Exploración sobre métricas certificadas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Geoespacial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Instalaciones y relaciones territoriales autorizadas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Lenguaje natural /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Exploración asistida con controles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Exportación controlada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03030"/>
                          </a:solidFill>
                        </a:defRPr>
                      </a:pPr>
                      <a:r>
                        <a:t>Excel/PDF/CSV con permisos y clasificación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16. Modelo analítico propuesto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HECHO_TRAMITE y HECHO_ESTADO para volumen y tiempos.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HECHO_NOTIFICACION y HECHO_DOCUMENTO para comunicaciones y formalización.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HECHO_AUDITORIA y HECHO_INDICADOR para desempeño ambiental.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HECHO_INTEGRACION para medir interoperabilidad y errores.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HECHO_CONCERTACION para obligaciones y avance.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Dimensiones comunes: tiempo, empresa, instalación, auditor, unidad, trámite, materia, ubicación, estado y usuario.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Una capa semántica define los KPI oficiales y evita métricas contradictorias.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17. Gobierno del dato para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Propietarios funcionales y custodios técnicos por dominio.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Reglas de calidad: unicidad, completitud, vigencia, consistencia e integridad.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Linaje fuente → transformación → métrica → visualización.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Clasificación de información aplicada a dashboards, filtros y exportaciones.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Seguridad a nivel de fila/columna cuando corresponda.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Indicadores certificados antes de ser KPI institucionales.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Ambientes de prueba separados de información real/confidencial.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18. Opciones de herramientas BI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754880"/>
                <a:gridCol w="4023360"/>
              </a:tblGrid>
              <a:tr h="7249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Herramienta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Fortaleza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Encaje a evaluar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Power BI / Fabric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Ecosistema Microsoft, modelos semánticos, Direct Lake, gobierno integrado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Muy alto si el ecosistema Microsoft es estratégico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Tableau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Visualización y exploración avanzada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Alto para analítica visual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Qlik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Motor asociativo y exploración transversal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Alto para múltiples fuentes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Looker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Capa semántica y métricas gobernadas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Alto si se prioriza semántica central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Apache Superset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Open source, SQL y dashboards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Interesante para self-hosted/open source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249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Metabase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Autoservicio sencillo, open source/self-hosted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03030"/>
                          </a:solidFill>
                        </a:defRPr>
                      </a:pPr>
                      <a:r>
                        <a:t>Interesante para rapidez y democratización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19. Criterios de selección BI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0"/>
                <a:gridCol w="2286000"/>
              </a:tblGrid>
              <a:tr h="50749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Peso sugerido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Seguridad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Gobierno de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Integración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Desempeño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Autoservicio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Visualización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Costo total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Interoperabilidad / portabilidad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Operación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20. Tableros por nivel de usuario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/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8458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Nivel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Ejemplos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Dirección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Volumen, cumplimiento, tendencias, excepciones, riesgos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Subdirección / supervisión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Carga, SLA, unidades, materias, auditorías, 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Operación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Pendientes, vencimientos, prevenciones, tareas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Analista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Exploración, cohortes, comparativos, cruces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Auditoría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03030"/>
                          </a:solidFill>
                        </a:defRPr>
                      </a:pPr>
                      <a:r>
                        <a:t>Trazabilidad, accesos, cambios, exportaciones, evidencia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21. Roadmap actualizado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/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63436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Salida clave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0 — Descubrimiento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Inventario de procesos, funcionalidades, actores y actividades externas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1 — AS-IS / TO-BE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Procesos prioritarios validados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2 — Funcional / datos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Requisitos, reglas, expediente, folios, documentos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3 — Arquitectura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API, seguridad, integración, datos, observabilidad,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4 — Interoperabilidad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EMA, CONANP, COA, CFE y otras fuentes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5 —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KPIs, modelo analítico, semántica,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6 — MVP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03030"/>
                          </a:solidFill>
                        </a:defRPr>
                      </a:pPr>
                      <a:r>
                        <a:t>Construcción incremental y pruebas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22. Decisiones que debe tomar la SPA / PROFEPA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Alcance exacto de la primera versión y catálogo de trámites.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Qué funcionalidades se conservan, eliminan o rediseñan.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Tratamiento de MULTIREGION y de actividades fuera del sistema.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Clasificación y publicación de información.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Alcance jurídico de FIEL/firma electrónica.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Módulo de concertación y su relación con otros procesos.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Catálogo oficial de indicadores y responsables.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Arquitectura de despliegue y restricciones institucionales.</a:t>
            </a:r>
          </a:p>
          <a:p>
            <a:pPr>
              <a:spcAft>
                <a:spcPts val="800"/>
              </a:spcAft>
              <a:defRPr sz="2000">
                <a:solidFill>
                  <a:srgbClr val="303030"/>
                </a:solidFill>
              </a:defRPr>
            </a:pPr>
            <a:r>
              <a:t>Selección de estrategia BI y criterios de herramienta.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23. Mensaje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03030"/>
                </a:solidFill>
              </a:defRPr>
            </a:pPr>
            <a:r>
              <a:t>Plataforma Integral de PROFEPA 1.0 debe diseñarse como una plataforma de procesos + datos + interoperabilidad + expediente + analítica.</a:t>
            </a:r>
          </a:p>
          <a:p>
            <a:pPr>
              <a:spcAft>
                <a:spcPts val="800"/>
              </a:spcAft>
              <a:defRPr sz="2200">
                <a:solidFill>
                  <a:srgbClr val="303030"/>
                </a:solidFill>
              </a:defRPr>
            </a:pPr>
            <a:r>
              <a:t>La modernización no consiste en digitalizar el AS-IS: primero se elimina lo que no agrega valor.</a:t>
            </a:r>
          </a:p>
          <a:p>
            <a:pPr>
              <a:spcAft>
                <a:spcPts val="800"/>
              </a:spcAft>
              <a:defRPr sz="2200">
                <a:solidFill>
                  <a:srgbClr val="303030"/>
                </a:solidFill>
              </a:defRPr>
            </a:pPr>
            <a:r>
              <a:t>La arquitectura recomendada es modular, API-first, observable y segura; microservicios sólo cuando estén justificados.</a:t>
            </a:r>
          </a:p>
          <a:p>
            <a:pPr>
              <a:spcAft>
                <a:spcPts val="800"/>
              </a:spcAft>
              <a:defRPr sz="2200">
                <a:solidFill>
                  <a:srgbClr val="303030"/>
                </a:solidFill>
              </a:defRPr>
            </a:pPr>
            <a:r>
              <a:t>BI debe construirse sobre datos históricos y una capa semántica gobernada.</a:t>
            </a:r>
          </a:p>
          <a:p>
            <a:pPr>
              <a:spcAft>
                <a:spcPts val="800"/>
              </a:spcAft>
              <a:defRPr sz="2200">
                <a:solidFill>
                  <a:srgbClr val="303030"/>
                </a:solidFill>
              </a:defRPr>
            </a:pPr>
            <a:r>
              <a:t>El siguiente paso es validar el alcance y cerrar la trazabilidad proceso → requisito → regla → dato → integración → prueba.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24. Referencias de contexto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03030"/>
                </a:solidFill>
              </a:defRPr>
            </a:pPr>
            <a:r>
              <a:t>NIST SP 800-207 — Zero Trust Architecture.</a:t>
            </a:r>
          </a:p>
          <a:p>
            <a:pPr>
              <a:spcAft>
                <a:spcPts val="800"/>
              </a:spcAft>
              <a:defRPr sz="1800">
                <a:solidFill>
                  <a:srgbClr val="303030"/>
                </a:solidFill>
              </a:defRPr>
            </a:pPr>
            <a:r>
              <a:t>Microsoft Learn — Microsoft Fabric / OneLake / Lakehouse / Power BI Semantic Models.</a:t>
            </a:r>
          </a:p>
          <a:p>
            <a:pPr>
              <a:spcAft>
                <a:spcPts val="800"/>
              </a:spcAft>
              <a:defRPr sz="1800">
                <a:solidFill>
                  <a:srgbClr val="303030"/>
                </a:solidFill>
              </a:defRPr>
            </a:pPr>
            <a:r>
              <a:t>Tableau — Tableau Semantics / Tableau Pulse.</a:t>
            </a:r>
          </a:p>
          <a:p>
            <a:pPr>
              <a:spcAft>
                <a:spcPts val="800"/>
              </a:spcAft>
              <a:defRPr sz="1800">
                <a:solidFill>
                  <a:srgbClr val="303030"/>
                </a:solidFill>
              </a:defRPr>
            </a:pPr>
            <a:r>
              <a:t>Qlik Help — Analytics Platform.</a:t>
            </a:r>
          </a:p>
          <a:p>
            <a:pPr>
              <a:spcAft>
                <a:spcPts val="800"/>
              </a:spcAft>
              <a:defRPr sz="1800">
                <a:solidFill>
                  <a:srgbClr val="303030"/>
                </a:solidFill>
              </a:defRPr>
            </a:pPr>
            <a:r>
              <a:t>Google Cloud — Looker Modeling / LookML.</a:t>
            </a:r>
          </a:p>
          <a:p>
            <a:pPr>
              <a:spcAft>
                <a:spcPts val="800"/>
              </a:spcAft>
              <a:defRPr sz="1800">
                <a:solidFill>
                  <a:srgbClr val="303030"/>
                </a:solidFill>
              </a:defRPr>
            </a:pPr>
            <a:r>
              <a:t>Apache Superset — documentación oficial.</a:t>
            </a:r>
          </a:p>
          <a:p>
            <a:pPr>
              <a:spcAft>
                <a:spcPts val="800"/>
              </a:spcAft>
              <a:defRPr sz="1800">
                <a:solidFill>
                  <a:srgbClr val="303030"/>
                </a:solidFill>
              </a:defRPr>
            </a:pPr>
            <a:r>
              <a:t>Metabase — documentación oficial.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8368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SAAEL — Análisis, arquitectura y BI   | 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